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196A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524000"/>
            <a:ext cx="50750" cy="1777901"/>
          </a:xfrm>
          <a:prstGeom prst="rect">
            <a:avLst/>
          </a:prstGeom>
          <a:solidFill>
            <a:srgbClr val="2196A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15901" y="1444675"/>
            <a:ext cx="738393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Cs 中性原子阵列 | 连续装载模拟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15901" y="1660475"/>
            <a:ext cx="7383932" cy="838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9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连续装载三路线整合</a:t>
            </a:r>
            <a:endParaRPr lang="en-US" sz="29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29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动力学模拟方案</a:t>
            </a:r>
            <a:endParaRPr lang="en-US" sz="2900" dirty="0">
              <a:solidFill>
                <a:srgbClr val="FFFFFF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 algn="l">
              <a:spcAft>
                <a:spcPts val="800"/>
              </a:spcAft>
              <a:buNone/>
            </a:pP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015901" y="2600176"/>
            <a:ext cx="634901" cy="38100"/>
          </a:xfrm>
          <a:prstGeom prst="rect">
            <a:avLst/>
          </a:prstGeom>
          <a:solidFill>
            <a:srgbClr val="C894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2955727"/>
            <a:ext cx="7383932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0"/>
              </a:spcAft>
              <a:buNone/>
            </a:pPr>
            <a:r>
              <a:rPr lang="en-US" sz="1400" dirty="0">
                <a:solidFill>
                  <a:srgbClr val="8BB8C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D1/D2 双线标量模型 · 3D 经典轨迹 Monte Carlo · 设计窗口输出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5901" y="3546277"/>
            <a:ext cx="738393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0"/>
              </a:spcBef>
              <a:spcAft>
                <a:spcPts val="500"/>
              </a:spcAft>
              <a:buNone/>
            </a:pPr>
            <a:r>
              <a:rPr lang="en-US" sz="1000" dirty="0">
                <a:ln/>
                <a:solidFill>
                  <a:schemeClr val="accent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2026 年 8 月 4 日</a:t>
            </a:r>
            <a:endParaRPr lang="en-US" sz="1000" dirty="0">
              <a:ln/>
              <a:solidFill>
                <a:schemeClr val="accent4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 algn="l">
              <a:spcBef>
                <a:spcPts val="3000"/>
              </a:spcBef>
              <a:spcAft>
                <a:spcPts val="500"/>
              </a:spcAft>
              <a:buNone/>
            </a:pPr>
            <a:r>
              <a:rPr lang="zh-CN" altLang="en-US" sz="10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成员：王浩宇、黄怡桥、张祎雷</a:t>
            </a:r>
            <a:endParaRPr lang="zh-CN" altLang="en-US" sz="10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A274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34901" y="1133326"/>
            <a:ext cx="7874198" cy="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4901" y="457051"/>
            <a:ext cx="803168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核心思路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34901" y="647551"/>
            <a:ext cx="8031682" cy="323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相比</a:t>
            </a:r>
            <a:r>
              <a:rPr lang="zh-CN" altLang="en-US" sz="22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路线</a:t>
            </a:r>
            <a:r>
              <a:rPr lang="en-US" altLang="zh-CN" sz="22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r>
              <a:rPr lang="en-US" sz="22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的四个关键变化</a:t>
            </a:r>
            <a:endParaRPr lang="en-US" sz="2200" dirty="0"/>
          </a:p>
        </p:txBody>
      </p:sp>
      <p:sp>
        <p:nvSpPr>
          <p:cNvPr id="6" name="Text 4"/>
          <p:cNvSpPr/>
          <p:nvPr>
            <p:custDataLst>
              <p:tags r:id="rId1"/>
            </p:custDataLst>
          </p:nvPr>
        </p:nvSpPr>
        <p:spPr>
          <a:xfrm>
            <a:off x="634901" y="1371451"/>
            <a:ext cx="388635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新</a:t>
            </a:r>
            <a:r>
              <a:rPr lang="en-US" sz="1200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D1/D2 双线标量模型</a:t>
            </a:r>
            <a:endParaRPr lang="en-US" sz="1200" dirty="0"/>
          </a:p>
        </p:txBody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634901" y="1590526"/>
            <a:ext cx="3886352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替代路线二的单二能级估算。D1 线和 D2 线各自的偶极矩阵元和失谐量分别代入，不再用单一线近似等效。</a:t>
            </a:r>
            <a:endParaRPr lang="en-US" sz="9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634901" y="2088207"/>
            <a:ext cx="388635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87D2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新</a:t>
            </a:r>
            <a:r>
              <a:rPr lang="en-US" sz="1200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五层方法论</a:t>
            </a:r>
            <a:endParaRPr lang="en-US" sz="12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634901" y="2307282"/>
            <a:ext cx="3886352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明确区分输入层、复现层、闭合层、推断层和模型边界层。每层有独立的置信度标签，不再混为一谈。</a:t>
            </a:r>
            <a:endParaRPr lang="en-US" sz="9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4698950" y="1371451"/>
            <a:ext cx="388635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改</a:t>
            </a:r>
            <a:r>
              <a:rPr lang="en-US" sz="1200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3D 经典轨迹 MC Handover</a:t>
            </a:r>
            <a:endParaRPr lang="en-US" sz="120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4698950" y="1590526"/>
            <a:ext cx="3886352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替代原始一维解析式。直接对三维势能面采样原子初始条件，数值积分经典运动方程，统计 transfer efficiency 和末温度。</a:t>
            </a:r>
            <a:endParaRPr lang="en-US" sz="900" dirty="0"/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4698950" y="2088207"/>
            <a:ext cx="388635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87D2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输出</a:t>
            </a:r>
            <a:r>
              <a:rPr lang="en-US" sz="1200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Cs 参数设计窗口</a:t>
            </a:r>
            <a:endParaRPr lang="en-US" sz="1200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4698950" y="2307282"/>
            <a:ext cx="3886352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直接给出失谐量、波长、光功率、散射率等可操作参数范围，而非仅中间推导结果。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A274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1500" y="955328"/>
            <a:ext cx="8001000" cy="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380851"/>
            <a:ext cx="816102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进程规划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71500" y="558552"/>
            <a:ext cx="8161020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分工、策略与模拟路线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71500" y="1142554"/>
            <a:ext cx="3898850" cy="1205359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0550" y="1142554"/>
            <a:ext cx="0" cy="1205359"/>
          </a:xfrm>
          <a:prstGeom prst="line">
            <a:avLst/>
          </a:prstGeom>
          <a:noFill/>
          <a:ln w="38100">
            <a:solidFill>
              <a:srgbClr val="2196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301" y="1269504"/>
            <a:ext cx="357545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分工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7301" y="1472654"/>
            <a:ext cx="3575456" cy="161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运输过程动力学建模（我） + Handover 建模与计算（小黄）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87301" y="1659731"/>
            <a:ext cx="3575456" cy="161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小黄已计算 handover 初步结果，模型假设讨论后待改进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87301" y="1846808"/>
            <a:ext cx="3575456" cy="161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运输模拟程序这两天开始写，后续结果合并讨论拼接方案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87301" y="2033885"/>
            <a:ext cx="3575456" cy="161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Handoff（AOD 暗提取、势能连续变化）后续共同讨论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71500" y="2449413"/>
            <a:ext cx="3898850" cy="96768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90550" y="2449413"/>
            <a:ext cx="0" cy="967680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7301" y="2576364"/>
            <a:ext cx="357545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主线流程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7301" y="2779514"/>
            <a:ext cx="3575456" cy="4853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MOT / PGC / GM 装载预冷 → L1 长距离 conveyor → L1/L2 双晶格 handover → L2 reservoir 补给 → AOD 动态光镊暗提取与排序 → preparation zone 冷却态制备 → SLM 静态阵列存储（magic/shielding 保护）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73501" y="1244054"/>
            <a:ext cx="3898999" cy="577453"/>
          </a:xfrm>
          <a:prstGeom prst="rect">
            <a:avLst/>
          </a:prstGeom>
          <a:solidFill>
            <a:srgbClr val="FFF9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92551" y="1244054"/>
            <a:ext cx="0" cy="577453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001" y="1371005"/>
            <a:ext cx="3627221" cy="323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dirty="0">
                <a:solidFill>
                  <a:srgbClr val="6B4C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先用 MC 模拟。若 MC 与碰撞模型误差过大，后续补 LZ 碰撞模型。MOT 本身用近共振光、散射率天然大，因此碰撞模型在 MOT 段可能更精确。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73501" y="1923008"/>
            <a:ext cx="3898999" cy="1205359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92551" y="1923008"/>
            <a:ext cx="0" cy="1205359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9302" y="2049959"/>
            <a:ext cx="357560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模拟优先级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89302" y="2253109"/>
            <a:ext cx="3575608" cy="161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1. MC 动力学模拟（运输 + handover）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89302" y="2440186"/>
            <a:ext cx="3575608" cy="161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2. 结果对比、模型拼接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89302" y="2627263"/>
            <a:ext cx="3575608" cy="161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3. LZ 碰撞模型（MOT 段备选，近共振区更精确）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89302" y="2814340"/>
            <a:ext cx="3575608" cy="161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4. AOD handoff 连续势能变化模拟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A274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1500" y="1038076"/>
            <a:ext cx="8001000" cy="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406301"/>
            <a:ext cx="816102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Part 1 — 单 Lattice 运输动力学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71500" y="596801"/>
            <a:ext cx="816102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阱光照射原子：色散分量 vs 吸收分量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71500" y="1225302"/>
            <a:ext cx="5220563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远失谐阱光同时提供两项物理效应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7700" y="1472952"/>
            <a:ext cx="5041999" cy="603052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66750" y="1472952"/>
            <a:ext cx="0" cy="603052"/>
          </a:xfrm>
          <a:prstGeom prst="line">
            <a:avLst/>
          </a:prstGeom>
          <a:noFill/>
          <a:ln w="38100">
            <a:solidFill>
              <a:srgbClr val="2196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7301" y="1549152"/>
            <a:ext cx="489691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色散分量（同相，无功）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251" y="1739652"/>
            <a:ext cx="4767426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提供偶极势 U → 束缚原子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251" y="1869728"/>
            <a:ext cx="4767426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U/kB 衡量"能装多深"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7700" y="2076004"/>
            <a:ext cx="5041999" cy="603052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66750" y="2076004"/>
            <a:ext cx="0" cy="603052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7301" y="2152204"/>
            <a:ext cx="489691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吸收分量（正交，有功）→ 加热机制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251" y="2342704"/>
            <a:ext cx="4767426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Rayleigh 散射（弹性）→ 反冲动量 → 加热 → 蒸发逃逸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251" y="2472779"/>
            <a:ext cx="4767426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Raman 散射（非弹性）→ 能级跃迁 → qubit 态翻转 → 退相干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1500" y="2831455"/>
            <a:ext cx="5220563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buNone/>
            </a:pPr>
            <a:r>
              <a:rPr lang="en-US" sz="80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U/kB 只是"能不能束缚住"的判据。完整评估需要同时追踪散射率、Raman/Rayleigh 分支比和差分光移。</a:t>
            </a:r>
            <a:endParaRPr lang="en-US" sz="800" dirty="0"/>
          </a:p>
        </p:txBody>
      </p:sp>
      <p:pic>
        <p:nvPicPr>
          <p:cNvPr id="18" name="Image 0" descr="C:/temp/pptx_build/slides/fig01_energy_ladder_detun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6650" y="1360438"/>
            <a:ext cx="2755850" cy="14405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A274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1500" y="1038076"/>
            <a:ext cx="8001000" cy="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406301"/>
            <a:ext cx="816102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Part 1 — 单 Lattice 运输动力学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71500" y="596801"/>
            <a:ext cx="816102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色散分量：偶极势的来源与近似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71500" y="1225302"/>
            <a:ext cx="4332089" cy="1076325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0550" y="1225302"/>
            <a:ext cx="0" cy="1076325"/>
          </a:xfrm>
          <a:prstGeom prst="line">
            <a:avLst/>
          </a:prstGeom>
          <a:noFill/>
          <a:ln w="38100">
            <a:solidFill>
              <a:srgbClr val="2196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750" y="1377702"/>
            <a:ext cx="396544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偶极势的物理来源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2750" y="1606302"/>
            <a:ext cx="396544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对二能级原子，远失谐极限下（|Δ| ≫ Γ, |Δ| ≫ Ω）：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12750" y="1787277"/>
            <a:ext cx="396544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Udip(r) = −(3πc²/2ω₀³) · (Γ/Δ) · I(r)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12750" y="1968252"/>
            <a:ext cx="396544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散射率 Γsc(r) = (3πc²/2ℏω₀³) · (Γ/Δ)² · I(r)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1500" y="2428577"/>
            <a:ext cx="4418731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色散分量对应原子极化率的实部——光场诱导的偶极矩与光场同相振荡，不做功，但改变原子的有效势能。偶极势正比于 I/Δ，散射率正比于 I/Δ²。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1500" y="2872978"/>
            <a:ext cx="4332089" cy="539651"/>
          </a:xfrm>
          <a:prstGeom prst="rect">
            <a:avLst/>
          </a:prstGeom>
          <a:solidFill>
            <a:srgbClr val="FFF9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90550" y="2872978"/>
            <a:ext cx="0" cy="539651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000" y="2999929"/>
            <a:ext cx="4068973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4C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核心权衡：增大 |Δ| 压低散射比压低势阱更有效（∝ 1/Δ² vs ∝ 1/Δ），这是远失谐阱能"束缚而不加热"的根本原因。</a:t>
            </a:r>
            <a:endParaRPr lang="en-US" sz="900" dirty="0"/>
          </a:p>
        </p:txBody>
      </p:sp>
      <p:pic>
        <p:nvPicPr>
          <p:cNvPr id="16" name="Image 0" descr="C:/temp/pptx_build/slides/fig04_ac_stark_exact_vs_appr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6739" y="1225302"/>
            <a:ext cx="3465612" cy="1895624"/>
          </a:xfrm>
          <a:prstGeom prst="rect">
            <a:avLst/>
          </a:prstGeom>
        </p:spPr>
      </p:pic>
      <p:pic>
        <p:nvPicPr>
          <p:cNvPr id="17" name="Image 1" descr="C:/temp/pptx_build/slides/fig05_intensity_potential_scat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888" y="3222427"/>
            <a:ext cx="3465463" cy="18115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A274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1500" y="1038076"/>
            <a:ext cx="8001000" cy="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406301"/>
            <a:ext cx="816102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Part 1 — 单 Lattice 运输动力学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71500" y="596801"/>
            <a:ext cx="816102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吸收分量：Rayleigh 散射与 Raman 散射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71500" y="1225302"/>
            <a:ext cx="3898850" cy="1848296"/>
          </a:xfrm>
          <a:prstGeom prst="roundRect">
            <a:avLst>
              <a:gd name="adj" fmla="val 1374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0550" y="1225302"/>
            <a:ext cx="0" cy="1848296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301" y="1377702"/>
            <a:ext cx="3575456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Rayleigh 散射（弹性）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7301" y="1625352"/>
            <a:ext cx="3575456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原子吸收光子→回到原能级→自发辐射。光子反冲赋予原子随机动量。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87301" y="2044452"/>
            <a:ext cx="3505349" cy="320576"/>
          </a:xfrm>
          <a:prstGeom prst="rect">
            <a:avLst/>
          </a:prstGeom>
          <a:solidFill>
            <a:srgbClr val="F8F8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88802" y="2095202"/>
            <a:ext cx="3368394" cy="219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反冲动量 →  ⟨v²⟩ 增大 → 等效温度上升 → 热尾部原子超过势垒 → 蒸发损失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7301" y="2441228"/>
            <a:ext cx="3575456" cy="4799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每次散射事件的反冲温度：Trec = ℏ²k²/mkB。对 Cs 852nm，Trec ≈ 200 nK。问题是累积效应——ms 量级输运时间内可发生数百至数千次散射。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73501" y="1225302"/>
            <a:ext cx="3898999" cy="1572071"/>
          </a:xfrm>
          <a:prstGeom prst="roundRect">
            <a:avLst>
              <a:gd name="adj" fmla="val 1616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92551" y="1225302"/>
            <a:ext cx="0" cy="1572071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9302" y="1377702"/>
            <a:ext cx="3575608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Raman 散射（非弹性）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89302" y="1625352"/>
            <a:ext cx="3575608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原子吸收光子→落到不同超精细能级→自发辐射。改变内部量子态。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89302" y="1873002"/>
            <a:ext cx="3505498" cy="215801"/>
          </a:xfrm>
          <a:prstGeom prst="rect">
            <a:avLst/>
          </a:prstGeom>
          <a:solidFill>
            <a:srgbClr val="F8F8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90802" y="1923752"/>
            <a:ext cx="3368546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超精细能级跃迁 → qubit |0⟩↔|1⟩ 翻转 → 退相干 / depolarization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89302" y="2165003"/>
            <a:ext cx="3575608" cy="4799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Raman 散射率通常比 Rayleigh 低 1-2 个数量级（取决于基态超精细分裂与失谐之比），但它直接破坏 qubit 相干性，不是仅靠降温能解决的。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A274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1500" y="955328"/>
            <a:ext cx="8001000" cy="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380851"/>
            <a:ext cx="816102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Part 1 — 单 Lattice 运输动力学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71500" y="558552"/>
            <a:ext cx="8161020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加速度效应：势阱倾斜 + 非绝热激发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71500" y="1091803"/>
            <a:ext cx="4302770" cy="1162496"/>
          </a:xfrm>
          <a:prstGeom prst="roundRect">
            <a:avLst>
              <a:gd name="adj" fmla="val 2185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0550" y="1091803"/>
            <a:ext cx="0" cy="1162496"/>
          </a:xfrm>
          <a:prstGeom prst="line">
            <a:avLst/>
          </a:prstGeom>
          <a:noFill/>
          <a:ln w="38100">
            <a:solidFill>
              <a:srgbClr val="2196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1218754"/>
            <a:ext cx="403906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效应 A：加速参考系中的惯性力 → 等效线性势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8200" y="1421904"/>
            <a:ext cx="3961343" cy="151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等效势能 V' = Vtrap(x) + ma·x 叠加到原阱上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38200" y="1598265"/>
            <a:ext cx="3961343" cy="151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一侧阱壁变浅 → 有效势垒降低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8200" y="1774627"/>
            <a:ext cx="3961343" cy="151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热尾部原子能量超过势垒 → 逃逸（被动蒸发冷却）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38200" y="1950988"/>
            <a:ext cx="3961343" cy="151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结果：原子数↓ + 剩余原子 T↓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71500" y="2355800"/>
            <a:ext cx="4302770" cy="986135"/>
          </a:xfrm>
          <a:prstGeom prst="roundRect">
            <a:avLst>
              <a:gd name="adj" fmla="val 2576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90550" y="2355800"/>
            <a:ext cx="0" cy="986135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000" y="2482751"/>
            <a:ext cx="403906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效应 B：chirp 不平滑 → 频谱展宽 → 共振激发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8200" y="2685901"/>
            <a:ext cx="3961343" cy="151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驱动频谱撞上阱的本征频率 ωtrap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8200" y="2862263"/>
            <a:ext cx="3961343" cy="151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受迫振动 / 参量共振 → 振动激发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38200" y="3038624"/>
            <a:ext cx="3961343" cy="151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原子获得额外动能 → 加剧效应 A 的损失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71500" y="3443436"/>
            <a:ext cx="4302770" cy="345877"/>
          </a:xfrm>
          <a:prstGeom prst="rect">
            <a:avLst/>
          </a:prstGeom>
          <a:solidFill>
            <a:srgbClr val="FFF5F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90550" y="3443436"/>
            <a:ext cx="0" cy="345877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3544937"/>
            <a:ext cx="403906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B24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两效应叠加：势垒降低 + 原子能量抬高 → 损失率非线性上升</a:t>
            </a:r>
            <a:endParaRPr lang="en-US" sz="900" dirty="0"/>
          </a:p>
        </p:txBody>
      </p:sp>
      <p:pic>
        <p:nvPicPr>
          <p:cNvPr id="22" name="Image 0" descr="C:/temp/pptx_build/slides/fig06_schrader_accelerated_frame_tilt_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1971" y="1218902"/>
            <a:ext cx="3520529" cy="24431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A274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1500" y="825252"/>
            <a:ext cx="8001000" cy="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304651"/>
            <a:ext cx="816102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Part 1 — 单 Lattice 运输动力学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1500" y="472827"/>
            <a:ext cx="816102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Monte Carlo 模拟框架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1500" y="936278"/>
            <a:ext cx="3911650" cy="472976"/>
          </a:xfrm>
          <a:prstGeom prst="roundRect">
            <a:avLst>
              <a:gd name="adj" fmla="val 5370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8450" y="1012478"/>
            <a:ext cx="373090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r>
              <a:rPr lang="en-US" sz="900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原子初始化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8450" y="1199704"/>
            <a:ext cx="373090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在阱底附近按热分布采样初始位置和速度。温度取 GM 冷却后的典型值（几 μK）。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71500" y="1472654"/>
            <a:ext cx="3911650" cy="472976"/>
          </a:xfrm>
          <a:prstGeom prst="roundRect">
            <a:avLst>
              <a:gd name="adj" fmla="val 5370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8450" y="1548854"/>
            <a:ext cx="373090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r>
              <a:rPr lang="en-US" sz="900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动力学积分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98450" y="1736080"/>
            <a:ext cx="373090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含时势阱中数值积分运动方程。势阱按 chirp 参数随时间移动和变形。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71500" y="2009031"/>
            <a:ext cx="3911650" cy="606326"/>
          </a:xfrm>
          <a:prstGeom prst="roundRect">
            <a:avLst>
              <a:gd name="adj" fmla="val 4189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8450" y="2085231"/>
            <a:ext cx="373090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r>
              <a:rPr lang="en-US" sz="900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散射事件采样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8450" y="2272457"/>
            <a:ext cx="3730904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按 Γsc(r(t)) 的时空分布采样散射事件。每次事件赋予随机反冲动量，记录 Raman vs Rayleigh 分支。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71500" y="2678757"/>
            <a:ext cx="3911650" cy="472976"/>
          </a:xfrm>
          <a:prstGeom prst="roundRect">
            <a:avLst>
              <a:gd name="adj" fmla="val 5370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8450" y="2754957"/>
            <a:ext cx="373090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r>
              <a:rPr lang="en-US" sz="900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统计分析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8450" y="2942183"/>
            <a:ext cx="373090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批量运行 N 条轨迹，统计存活率、末态温度、散射事件数分布、Raman 翻转概率。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71500" y="3215134"/>
            <a:ext cx="3911650" cy="412552"/>
          </a:xfrm>
          <a:prstGeom prst="rect">
            <a:avLst/>
          </a:prstGeom>
          <a:solidFill>
            <a:srgbClr val="E8F4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8450" y="3316635"/>
            <a:ext cx="3730904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5C6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目标：在 (Δ, P) 参数平面上扫描，找到原子存活率达标、末态温度低于阈值的可行域。</a:t>
            </a:r>
            <a:endParaRPr lang="en-US" sz="800" dirty="0"/>
          </a:p>
        </p:txBody>
      </p:sp>
      <p:pic>
        <p:nvPicPr>
          <p:cNvPr id="20" name="Image 0" descr="C:/temp/pptx_build/slides/fig05_schrader_transport_accel_velocity_position_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0850" y="936278"/>
            <a:ext cx="1339453" cy="1524000"/>
          </a:xfrm>
          <a:prstGeom prst="rect">
            <a:avLst/>
          </a:prstGeom>
        </p:spPr>
      </p:pic>
      <p:pic>
        <p:nvPicPr>
          <p:cNvPr id="21" name="Image 1" descr="C:/temp/pptx_build/slides/fig07_hickman_heating_vs_transport_tim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850" y="2511028"/>
            <a:ext cx="2290911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4797"/>
          </a:xfrm>
          <a:prstGeom prst="rect">
            <a:avLst/>
          </a:prstGeom>
          <a:solidFill>
            <a:srgbClr val="1A274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1500" y="892373"/>
            <a:ext cx="8001000" cy="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324148"/>
            <a:ext cx="816102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Part 2 — Handover 模拟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71500" y="501848"/>
            <a:ext cx="816102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长距离输运（L ≫ zR）：焦点重合 vs 错开束腰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71500" y="1003399"/>
            <a:ext cx="3520529" cy="1005185"/>
          </a:xfrm>
          <a:prstGeom prst="roundRect">
            <a:avLst>
              <a:gd name="adj" fmla="val 252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0550" y="1003399"/>
            <a:ext cx="0" cy="1005185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1130350"/>
            <a:ext cx="3241182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方案 A：焦点重合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2000" y="1352550"/>
            <a:ext cx="3241182" cy="151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两束对射高斯光束的束腰重合在同一位置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62000" y="1528911"/>
            <a:ext cx="3241182" cy="151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轴向阱深分布：中间深、两端极浅（∝ 1/[1+(z/zR)²]）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62000" y="1705273"/>
            <a:ext cx="3241182" cy="151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最小阱深极低 → 长距离下不可用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71500" y="2110085"/>
            <a:ext cx="3520529" cy="1156246"/>
          </a:xfrm>
          <a:prstGeom prst="roundRect">
            <a:avLst>
              <a:gd name="adj" fmla="val 219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90550" y="2110085"/>
            <a:ext cx="0" cy="1156246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000" y="2237036"/>
            <a:ext cx="3241182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AE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方案 B：错开束腰（Matthies 型）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2000" y="2459236"/>
            <a:ext cx="3241182" cy="151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两束束腰位置错开，使包络沿轴向更平坦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62000" y="2635597"/>
            <a:ext cx="3241182" cy="151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最小阱深大幅提升 → L ≫ zR 条件下可用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62000" y="2811959"/>
            <a:ext cx="3241182" cy="3021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残留特点（非致命）：轴向阱深比近腰区略小；垂直方向重力降低有效阱深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71500" y="3367832"/>
            <a:ext cx="3590940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关键判据：干涉条纹对比度 ε 必须足够大才能形成可分辨的晶格阱。</a:t>
            </a:r>
            <a:endParaRPr lang="en-US" sz="800" dirty="0"/>
          </a:p>
        </p:txBody>
      </p:sp>
      <p:pic>
        <p:nvPicPr>
          <p:cNvPr id="19" name="Image 0" descr="C:/temp/pptx_build/slides/fig_06_conveyor_geomet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5858" y="1003399"/>
            <a:ext cx="1490365" cy="2031950"/>
          </a:xfrm>
          <a:prstGeom prst="rect">
            <a:avLst/>
          </a:prstGeom>
        </p:spPr>
      </p:pic>
      <p:pic>
        <p:nvPicPr>
          <p:cNvPr id="20" name="Image 1" descr="C:/temp/pptx_build/slides/fig01_chiu_conveyor_geometry_timing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814" y="3111550"/>
            <a:ext cx="2482453" cy="2031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A274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1500" y="879277"/>
            <a:ext cx="8001000" cy="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330101"/>
            <a:ext cx="816102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Part 2 — Handover 模拟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71500" y="507802"/>
            <a:ext cx="8161020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Handover 末态温度预算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71500" y="1041202"/>
            <a:ext cx="8001000" cy="501551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4093" y="1187202"/>
            <a:ext cx="7655814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Tf = Ti · (ωf/ωi) + ΔTrecoil + ΔTacc + ΔTHO + ΔTnoise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1500" y="1695152"/>
            <a:ext cx="2792611" cy="822127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8450" y="1796653"/>
            <a:ext cx="258948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Ti·(ωf/ωi)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8450" y="1996678"/>
            <a:ext cx="258948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绝热压缩/解压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8450" y="2168128"/>
            <a:ext cx="2589484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相空间面积近似守恒。阱频变高时，同一团热云在更硬的阱里表现为更高温度。不是耗散加热，是可逆的。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16511" y="1695152"/>
            <a:ext cx="2792611" cy="822127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43461" y="1796653"/>
            <a:ext cx="258948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ΔTrecoil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43461" y="1996678"/>
            <a:ext cx="258948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自发散射反冲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43461" y="2168128"/>
            <a:ext cx="2589484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每次吸收-自发辐射事件赋予原子的随机动量。大小正比于输运时间×散射率×每次反冲能量。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71500" y="2669679"/>
            <a:ext cx="2830711" cy="822127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90550" y="2669679"/>
            <a:ext cx="0" cy="822127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550" y="2771180"/>
            <a:ext cx="258948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ΔTacc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6550" y="2971205"/>
            <a:ext cx="258948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加速度激发【必须】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36550" y="3142655"/>
            <a:ext cx="2589484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加速参考系中势阱倾斜 + chirp 不平滑导致的非绝热激发。ΔTacc 必须在任何完整模拟中包含。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554611" y="2669679"/>
            <a:ext cx="2830711" cy="822127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573661" y="2669679"/>
            <a:ext cx="0" cy="822127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19661" y="2771180"/>
            <a:ext cx="258948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ΔTHO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19661" y="2971205"/>
            <a:ext cx="258948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交接失配【待确认】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719661" y="3142655"/>
            <a:ext cx="2589484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交接时相位、几何、阱深 ramp 不匹配引起的能量重分配。平面波假设下 vs 真实高斯光束的差异待量化。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71500" y="3644205"/>
            <a:ext cx="2792611" cy="822127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8450" y="3745706"/>
            <a:ext cx="258948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ΔTnoise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8450" y="3945731"/>
            <a:ext cx="258948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技术噪声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8450" y="4117181"/>
            <a:ext cx="2589484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强度噪声、指向噪声、AOM 频率/相位噪声。尚未精细建模，目前按上限估计预留预算。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A274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1500" y="955328"/>
            <a:ext cx="8001000" cy="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380851"/>
            <a:ext cx="816102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Part 2 — Handover 模拟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71500" y="558552"/>
            <a:ext cx="8161020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Instantaneous Switch 假设的边界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71500" y="1142554"/>
            <a:ext cx="3911650" cy="939552"/>
          </a:xfrm>
          <a:prstGeom prst="roundRect">
            <a:avLst>
              <a:gd name="adj" fmla="val 2703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0550" y="1142554"/>
            <a:ext cx="0" cy="939552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1269504"/>
            <a:ext cx="36401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小角度近似的失效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2000" y="1472654"/>
            <a:ext cx="3640125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L1 和 L2 光束夹角 θ 的余弦展开只适用于 θ ≪ 1。实际装置中 θ ≳ 4°-13°，cosθ 项与 sinθ 项同量级，一阶近似不成立。沿 y 方向远离中心的原子感受到的 L2 相位已偏移多个周期。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71500" y="2183606"/>
            <a:ext cx="3911650" cy="939552"/>
          </a:xfrm>
          <a:prstGeom prst="roundRect">
            <a:avLst>
              <a:gd name="adj" fmla="val 2703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90550" y="2183606"/>
            <a:ext cx="0" cy="939552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2310557"/>
            <a:ext cx="36401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瞬时换阱 vs 有限 ramp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2000" y="2513707"/>
            <a:ext cx="3640125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原始 handover 公式假设 L1→L2 切换是瞬时的。但实际上 Chiu/Lukin 装置中 handover 时间 ~1 ms，远大于振荡周期（~10 μs）。原子在切换过程中绝热跟随瞬时本征态，而非被"突然丢进"新势阱。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71500" y="3224659"/>
            <a:ext cx="3911650" cy="939552"/>
          </a:xfrm>
          <a:prstGeom prst="roundRect">
            <a:avLst>
              <a:gd name="adj" fmla="val 2703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0550" y="3224659"/>
            <a:ext cx="0" cy="939552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3351609"/>
            <a:ext cx="36401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相位-位置耦合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2000" y="3554760"/>
            <a:ext cx="3640125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y ≠ 0 处 L2 的相位与 y=0 处相差 k·sinθ·y。对于 μm 级热云，相位差可超过 π，导致不同 y 位置的原子看到的 L2 势阱位置不同——"mode matching"不是全局概念。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60850" y="1142554"/>
            <a:ext cx="3911650" cy="939552"/>
          </a:xfrm>
          <a:prstGeom prst="roundRect">
            <a:avLst>
              <a:gd name="adj" fmla="val 2703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79900" y="1142554"/>
            <a:ext cx="0" cy="939552"/>
          </a:xfrm>
          <a:prstGeom prst="line">
            <a:avLst/>
          </a:prstGeom>
          <a:noFill/>
          <a:ln w="38100">
            <a:solidFill>
              <a:srgbClr val="2196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1350" y="1269504"/>
            <a:ext cx="36401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MC 模拟的优势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51350" y="1472654"/>
            <a:ext cx="3640125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3D 经典轨迹 Monte Carlo 自动处理以上所有效应：不对 θ 做小角度展开、不对 ramp 做瞬时假设、每原子按其实际位置计算局部势能面。代价是计算量大——每次扫描需数千条轨迹。</a:t>
            </a:r>
            <a:endParaRPr lang="en-US" sz="800" dirty="0"/>
          </a:p>
        </p:txBody>
      </p:sp>
      <p:pic>
        <p:nvPicPr>
          <p:cNvPr id="22" name="Image 0" descr="C:/temp/pptx_build/slides/fig_09_hando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0850" y="2183606"/>
            <a:ext cx="3911501" cy="13323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A274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1500" y="955328"/>
            <a:ext cx="8001000" cy="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380851"/>
            <a:ext cx="816102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整合架构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71500" y="558552"/>
            <a:ext cx="8161020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三路线合并：架构层 → 校验层 → 设计层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71500" y="1142554"/>
            <a:ext cx="3911650" cy="1415504"/>
          </a:xfrm>
          <a:prstGeom prst="roundRect">
            <a:avLst>
              <a:gd name="adj" fmla="val 1794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5313" y="1142554"/>
            <a:ext cx="0" cy="1415504"/>
          </a:xfrm>
          <a:prstGeom prst="line">
            <a:avLst/>
          </a:prstGeom>
          <a:noFill/>
          <a:ln w="47625">
            <a:solidFill>
              <a:srgbClr val="2196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6826" y="1320254"/>
            <a:ext cx="357879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路线一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96826" y="1497955"/>
            <a:ext cx="3578796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系统架构层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6826" y="1720155"/>
            <a:ext cx="357879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Cs 原子从装载到量子比特操作的全流程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96826" y="1897856"/>
            <a:ext cx="3578796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MOT→L1 运输→L1/L2 handover→reservoir 存储→AOD 提取→冷却→SLM 存储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96826" y="2227957"/>
            <a:ext cx="357879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i="1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角色：定义全局边界、模块接口、系统指标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60850" y="1142554"/>
            <a:ext cx="3911650" cy="1263104"/>
          </a:xfrm>
          <a:prstGeom prst="roundRect">
            <a:avLst>
              <a:gd name="adj" fmla="val 2011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84663" y="1142554"/>
            <a:ext cx="0" cy="1263104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6176" y="1320254"/>
            <a:ext cx="357879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路线三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86176" y="1497955"/>
            <a:ext cx="3578796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数值内核层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86176" y="1720155"/>
            <a:ext cx="357879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Rb 双晶格已有框架的物理内核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86176" y="1897856"/>
            <a:ext cx="357879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D1/D2 双线模型、散射率/势能计算、handover MC 引擎、温度预算闭合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86176" y="2075557"/>
            <a:ext cx="357879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i="1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角色：提供可校准的核心计算，支撑 Cs 参数扫描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60850" y="2507159"/>
            <a:ext cx="3911650" cy="1263104"/>
          </a:xfrm>
          <a:prstGeom prst="roundRect">
            <a:avLst>
              <a:gd name="adj" fmla="val 2011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84663" y="2507159"/>
            <a:ext cx="0" cy="1263104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6176" y="2684859"/>
            <a:ext cx="357879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路线二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86176" y="2862560"/>
            <a:ext cx="3578796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解析设计层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86176" y="3084761"/>
            <a:ext cx="357879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从路线三的数值结果中提取工程判据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86176" y="3262461"/>
            <a:ext cx="357879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极限条件下的解析估计、瞬时近似失效的报警阈值、参数扫描的粗粒度指导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86176" y="3440162"/>
            <a:ext cx="357879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i="1" dirty="0">
                <a:solidFill>
                  <a:srgbClr val="66666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角色：快速判断可行性边界，指出数值扫描的优先区域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A274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1500" y="955328"/>
            <a:ext cx="8001000" cy="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380851"/>
            <a:ext cx="816102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设计窗口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71500" y="558552"/>
            <a:ext cx="8161020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Cs 连续装载参数设计空间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71500" y="1142554"/>
            <a:ext cx="3911650" cy="653951"/>
          </a:xfrm>
          <a:prstGeom prst="roundRect">
            <a:avLst>
              <a:gd name="adj" fmla="val 3884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0550" y="1142554"/>
            <a:ext cx="0" cy="653951"/>
          </a:xfrm>
          <a:prstGeom prst="line">
            <a:avLst/>
          </a:prstGeom>
          <a:noFill/>
          <a:ln w="38100">
            <a:solidFill>
              <a:srgbClr val="2196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1269504"/>
            <a:ext cx="36401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阱光波长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2000" y="1460004"/>
            <a:ext cx="3640125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D1 线 894.6 nm / D2 线 852.3 nm。对 Cs，D1/D2 间距 ~42 nm 远大于 Rb (~15 nm)，双线效应不能合并处理。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71500" y="1872704"/>
            <a:ext cx="3911650" cy="653951"/>
          </a:xfrm>
          <a:prstGeom prst="roundRect">
            <a:avLst>
              <a:gd name="adj" fmla="val 3884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90550" y="1872704"/>
            <a:ext cx="0" cy="653951"/>
          </a:xfrm>
          <a:prstGeom prst="line">
            <a:avLst/>
          </a:prstGeom>
          <a:noFill/>
          <a:ln w="38100">
            <a:solidFill>
              <a:srgbClr val="2196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1999655"/>
            <a:ext cx="36401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失谐量 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2000" y="2190155"/>
            <a:ext cx="3640125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扫描范围：10²-10⁶ GHz（覆盖近共振到远失谐）。目标：找到 Γsc 和 Udip 的 Pareto 最优前沿。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71500" y="2602855"/>
            <a:ext cx="3911650" cy="653951"/>
          </a:xfrm>
          <a:prstGeom prst="roundRect">
            <a:avLst>
              <a:gd name="adj" fmla="val 3884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0550" y="2602855"/>
            <a:ext cx="0" cy="653951"/>
          </a:xfrm>
          <a:prstGeom prst="line">
            <a:avLst/>
          </a:prstGeom>
          <a:noFill/>
          <a:ln w="38100">
            <a:solidFill>
              <a:srgbClr val="2196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2729805"/>
            <a:ext cx="36401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单束光功率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2000" y="2920305"/>
            <a:ext cx="3640125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受限于：AOM 衍射效率、光纤耦合效率、可用激光器功率。典型范围：0.1-5 W/束。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1500" y="3333006"/>
            <a:ext cx="3911650" cy="653951"/>
          </a:xfrm>
          <a:prstGeom prst="roundRect">
            <a:avLst>
              <a:gd name="adj" fmla="val 3884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90550" y="3333006"/>
            <a:ext cx="0" cy="653951"/>
          </a:xfrm>
          <a:prstGeom prst="line">
            <a:avLst/>
          </a:prstGeom>
          <a:noFill/>
          <a:ln w="38100">
            <a:solidFill>
              <a:srgbClr val="2196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000" y="3459956"/>
            <a:ext cx="36401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束腰半径 w₀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2000" y="3650456"/>
            <a:ext cx="3640125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决定 Rayleigh 长度 zR = πw₀²/λ。对 Matthies 型 conveyor，w₀ 和错开距离共同决定轴向阱深平坦度。</a:t>
            </a:r>
            <a:endParaRPr lang="en-US" sz="800" dirty="0"/>
          </a:p>
        </p:txBody>
      </p:sp>
      <p:pic>
        <p:nvPicPr>
          <p:cNvPr id="22" name="Image 0" descr="C:/temp/pptx_build/slides/cs133_power_scattering_tradeo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0850" y="1142554"/>
            <a:ext cx="3911352" cy="2291209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660850" y="3471863"/>
            <a:ext cx="3911650" cy="847279"/>
          </a:xfrm>
          <a:prstGeom prst="rect">
            <a:avLst/>
          </a:prstGeom>
          <a:solidFill>
            <a:srgbClr val="E8F4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813250" y="3598813"/>
            <a:ext cx="367898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5C6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推荐扫描优先级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13250" y="3801963"/>
            <a:ext cx="3678987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1A5C6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1. 源端光功率 → reservoir 原子数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813250" y="3932039"/>
            <a:ext cx="3678987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1A5C6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2. 失谐量 → 阱深-散射率 trade-off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813250" y="4062115"/>
            <a:ext cx="3678987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1A5C6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3. handover 参数 → 转移效率和末温度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660850" y="4395341"/>
            <a:ext cx="3911650" cy="469702"/>
          </a:xfrm>
          <a:prstGeom prst="rect">
            <a:avLst/>
          </a:prstGeom>
          <a:solidFill>
            <a:srgbClr val="FFF5F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787801" y="4496842"/>
            <a:ext cx="3730904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039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第一优先：reservoir 原子数  &gt;  handover 后温度  &gt;  空间分布  &gt;  storage qubit 相干性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A274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1500" y="955328"/>
            <a:ext cx="8001000" cy="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380851"/>
            <a:ext cx="816102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路线图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71500" y="558552"/>
            <a:ext cx="8161020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待完成工作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71500" y="1142554"/>
            <a:ext cx="3911650" cy="660202"/>
          </a:xfrm>
          <a:prstGeom prst="roundRect">
            <a:avLst>
              <a:gd name="adj" fmla="val 384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0550" y="1142554"/>
            <a:ext cx="0" cy="660202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550" y="1244054"/>
            <a:ext cx="369204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AOD 动态光镊 Handoff 模型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6550" y="1396454"/>
            <a:ext cx="369204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reservoir→AOD 原子提取的完整动力学。需要：tweezer 轨迹規劃、局部 trap frequency 匹配、扫描速率限制。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71500" y="1878955"/>
            <a:ext cx="3911650" cy="660202"/>
          </a:xfrm>
          <a:prstGeom prst="roundRect">
            <a:avLst>
              <a:gd name="adj" fmla="val 384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90550" y="1878955"/>
            <a:ext cx="0" cy="660202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550" y="1980456"/>
            <a:ext cx="369204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EIT 冷却动力学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6550" y="2132856"/>
            <a:ext cx="369204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Lambda 型三能级系统中 EIT 冷却的 detuning、Rabi 频率和阱频匹配的完整建模。当前仅有概略框架。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71500" y="2615357"/>
            <a:ext cx="3911650" cy="660202"/>
          </a:xfrm>
          <a:prstGeom prst="roundRect">
            <a:avLst>
              <a:gd name="adj" fmla="val 384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0550" y="2615357"/>
            <a:ext cx="0" cy="660202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550" y="2716857"/>
            <a:ext cx="369204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Cs Qubit 态完整表征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6550" y="2869257"/>
            <a:ext cx="369204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矢量/张量极化率、magic wavelength 查找、Raman/Rayleigh 散射分支比计算、差分光移引起的退相干预估。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60850" y="1142554"/>
            <a:ext cx="3911650" cy="660202"/>
          </a:xfrm>
          <a:prstGeom prst="roundRect">
            <a:avLst>
              <a:gd name="adj" fmla="val 384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79900" y="1142554"/>
            <a:ext cx="0" cy="660202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5901" y="1244054"/>
            <a:ext cx="369204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沿程光束传播建模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25901" y="1396454"/>
            <a:ext cx="369204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Gaussian 传播、光阑裁剪、波前畸变、指向噪声、RIN、AOM chirp 波形误差的完整沿程模型。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60850" y="1878955"/>
            <a:ext cx="3911650" cy="660202"/>
          </a:xfrm>
          <a:prstGeom prst="roundRect">
            <a:avLst>
              <a:gd name="adj" fmla="val 384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79900" y="1878955"/>
            <a:ext cx="0" cy="660202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5901" y="1980456"/>
            <a:ext cx="369204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Handover MC 升级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25901" y="2132856"/>
            <a:ext cx="369204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当前版本是经典热分布 + 标量势，只能给出上限估计。需要加入：实际相位扫描、量子统计、实验温度测量标定。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60850" y="2615357"/>
            <a:ext cx="3911650" cy="660202"/>
          </a:xfrm>
          <a:prstGeom prst="roundRect">
            <a:avLst>
              <a:gd name="adj" fmla="val 384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79900" y="2615357"/>
            <a:ext cx="0" cy="660202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5901" y="2716857"/>
            <a:ext cx="369204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D2 PGC / D1 GM 冷却建模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25901" y="2869257"/>
            <a:ext cx="369204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偏振梯度冷却和灰分子冷却在 Cs 中的具体参数和效率估算，为 MOT 后预冷却阶段提供输入。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A274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1500" y="879277"/>
            <a:ext cx="8001000" cy="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330101"/>
            <a:ext cx="816102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196A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备选方案 — LZ 光辅助碰撞模型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71500" y="507802"/>
            <a:ext cx="8161020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Landau-Zener 碰撞模型：何时需要、核心概念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71500" y="1015752"/>
            <a:ext cx="3911650" cy="939552"/>
          </a:xfrm>
          <a:prstGeom prst="roundRect">
            <a:avLst>
              <a:gd name="adj" fmla="val 2703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0550" y="1015752"/>
            <a:ext cx="0" cy="939552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1142702"/>
            <a:ext cx="36401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核心问题：近共振区 MC 的局限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2000" y="1345853"/>
            <a:ext cx="3640125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MOT 段使用近共振光（|Δ| ~ 几 Γ），散射率天然极大。MC 的半经典散射采样在 Γsc ≫ ωtrap 时可能低估多体碰撞关联效应。LZ 模型从量子力学两态交叉出发，在近共振、高密度场景下更精确。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71500" y="2031504"/>
            <a:ext cx="3911650" cy="1091952"/>
          </a:xfrm>
          <a:prstGeom prst="roundRect">
            <a:avLst>
              <a:gd name="adj" fmla="val 2326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90550" y="2031504"/>
            <a:ext cx="0" cy="1091952"/>
          </a:xfrm>
          <a:prstGeom prst="line">
            <a:avLst/>
          </a:prstGeom>
          <a:noFill/>
          <a:ln w="38100">
            <a:solidFill>
              <a:srgbClr val="2196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2158454"/>
            <a:ext cx="36401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物理图像：Condon 点 + 免交叉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2000" y="2361605"/>
            <a:ext cx="3640125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两个原子接近时，基态势 S+S 和激发态势 S+P 通过偶极-偶极相互作用耦合（~ C₃/R³）。在某核间距 Rc（Condon 半径）处，光场失谐恰好补偿势能差——裸态在此相交。加上耦合后形成免交叉，原子以概率 PLZ = exp(−π·Ωeff²/(2·|dΔ/dR|·|vR|)) 非绝热跃迁。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60850" y="1015752"/>
            <a:ext cx="3911650" cy="1294954"/>
          </a:xfrm>
          <a:prstGeom prst="roundRect">
            <a:avLst>
              <a:gd name="adj" fmla="val 1961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79900" y="1015752"/>
            <a:ext cx="0" cy="1294954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1350" y="1142702"/>
            <a:ext cx="36401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27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LZ 模型 vs MC 模型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51350" y="1345853"/>
            <a:ext cx="36401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MC：对散射事件做随机采样，适合远失谐（散射率低）的运输段。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51350" y="1523554"/>
            <a:ext cx="3640125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LZ：对每次原子 encounter 做量子跃迁判断，适合近共振（散射率高）的 MOT 装载段。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51350" y="1853654"/>
            <a:ext cx="3640125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两模型互补：MOT 段用 LZ 判断碰撞损失 → 运输段用 MC 追踪散射加热 → handover 段继续 MC。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60850" y="2386905"/>
            <a:ext cx="3911650" cy="631478"/>
          </a:xfrm>
          <a:prstGeom prst="rect">
            <a:avLst/>
          </a:prstGeom>
          <a:solidFill>
            <a:srgbClr val="F0F7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87801" y="2488406"/>
            <a:ext cx="373090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A5C6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当前状态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87801" y="2682032"/>
            <a:ext cx="3730904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1A5C6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已有 Cs D1 线 +13 MHz 失谐、30 点碰撞装载扫描的完整数值实现。64 态 Condon-group 动态合并算法。81.25% 装载成功率（N mod 2 = 1）。</a:t>
            </a:r>
            <a:endParaRPr lang="en-US" sz="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98.8827559055118,&quot;left&quot;:49.99220472440945,&quot;top&quot;:107.98826771653543,&quot;width&quot;:626.0158267716535}"/>
</p:tagLst>
</file>

<file path=ppt/tags/tag2.xml><?xml version="1.0" encoding="utf-8"?>
<p:tagLst xmlns:p="http://schemas.openxmlformats.org/presentationml/2006/main">
  <p:tag name="KSO_WM_DIAGRAM_VIRTUALLY_FRAME" val="{&quot;height&quot;:98.8827559055118,&quot;left&quot;:49.99220472440945,&quot;top&quot;:107.98826771653543,&quot;width&quot;:626.0158267716535}"/>
</p:tagLst>
</file>

<file path=ppt/tags/tag3.xml><?xml version="1.0" encoding="utf-8"?>
<p:tagLst xmlns:p="http://schemas.openxmlformats.org/presentationml/2006/main">
  <p:tag name="KSO_WM_DIAGRAM_VIRTUALLY_FRAME" val="{&quot;height&quot;:98.8827559055118,&quot;left&quot;:49.99220472440945,&quot;top&quot;:107.98826771653543,&quot;width&quot;:626.0158267716535}"/>
</p:tagLst>
</file>

<file path=ppt/tags/tag4.xml><?xml version="1.0" encoding="utf-8"?>
<p:tagLst xmlns:p="http://schemas.openxmlformats.org/presentationml/2006/main">
  <p:tag name="KSO_WM_DIAGRAM_VIRTUALLY_FRAME" val="{&quot;height&quot;:98.8827559055118,&quot;left&quot;:49.99220472440945,&quot;top&quot;:107.98826771653543,&quot;width&quot;:626.0158267716535}"/>
</p:tagLst>
</file>

<file path=ppt/tags/tag5.xml><?xml version="1.0" encoding="utf-8"?>
<p:tagLst xmlns:p="http://schemas.openxmlformats.org/presentationml/2006/main">
  <p:tag name="KSO_WM_DIAGRAM_VIRTUALLY_FRAME" val="{&quot;height&quot;:98.8827559055118,&quot;left&quot;:49.99220472440945,&quot;top&quot;:107.98826771653543,&quot;width&quot;:626.0158267716535}"/>
</p:tagLst>
</file>

<file path=ppt/tags/tag6.xml><?xml version="1.0" encoding="utf-8"?>
<p:tagLst xmlns:p="http://schemas.openxmlformats.org/presentationml/2006/main">
  <p:tag name="KSO_WM_DIAGRAM_VIRTUALLY_FRAME" val="{&quot;height&quot;:98.8827559055118,&quot;left&quot;:49.99220472440945,&quot;top&quot;:107.98826771653543,&quot;width&quot;:626.0158267716535}"/>
</p:tagLst>
</file>

<file path=ppt/tags/tag7.xml><?xml version="1.0" encoding="utf-8"?>
<p:tagLst xmlns:p="http://schemas.openxmlformats.org/presentationml/2006/main">
  <p:tag name="KSO_WM_DIAGRAM_VIRTUALLY_FRAME" val="{&quot;height&quot;:98.8827559055118,&quot;left&quot;:49.99220472440945,&quot;top&quot;:107.98826771653543,&quot;width&quot;:626.0158267716535}"/>
</p:tagLst>
</file>

<file path=ppt/tags/tag8.xml><?xml version="1.0" encoding="utf-8"?>
<p:tagLst xmlns:p="http://schemas.openxmlformats.org/presentationml/2006/main">
  <p:tag name="KSO_WM_DIAGRAM_VIRTUALLY_FRAME" val="{&quot;height&quot;:98.8827559055118,&quot;left&quot;:49.99220472440945,&quot;top&quot;:107.98826771653543,&quot;width&quot;:626.015826771653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5182</Words>
  <Application>WPS 演示</Application>
  <PresentationFormat>On-screen Show (16:9)</PresentationFormat>
  <Paragraphs>357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Times New Roman</vt:lpstr>
      <vt:lpstr>Times New Roman</vt:lpstr>
      <vt:lpstr>Times New Roman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中性原子连续装载模拟方案</dc:title>
  <dc:creator>Continuous Loading Simulation</dc:creator>
  <dc:subject>PptxGenJS Presentation</dc:subject>
  <cp:lastModifiedBy>'Anole</cp:lastModifiedBy>
  <cp:revision>3</cp:revision>
  <dcterms:created xsi:type="dcterms:W3CDTF">2026-08-04T12:37:00Z</dcterms:created>
  <dcterms:modified xsi:type="dcterms:W3CDTF">2026-08-04T13:03:16Z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1E7BEB7993AA4D30BE9516E073A0D83A_12</vt:lpwstr>
  </property>
  <property fmtid="{D5CDD505-2E9C-101B-9397-08002B2CF9AE}" pid="3" name="KSOProductBuildVer">
    <vt:lpwstr>2052-12.1.0.24657</vt:lpwstr>
  </property>
</Properties>
</file>