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737360"/>
            <a:ext cx="10725912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4400" b="1">
                <a:solidFill>
                  <a:srgbClr val="1F3B5C"/>
                </a:solidFill>
                <a:latin typeface="Microsoft YaHei"/>
                <a:ea typeface="Microsoft YaHei"/>
              </a:rPr>
              <a:t>连续装载双光晶格输运模拟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154680"/>
            <a:ext cx="1072591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0">
                <a:solidFill>
                  <a:srgbClr val="7F8C8D"/>
                </a:solidFill>
                <a:latin typeface="Microsoft YaHei"/>
                <a:ea typeface="Microsoft YaHei"/>
              </a:rPr>
              <a:t>物理模型 · 计算方法 · 程序实现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72591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7F8C8D"/>
                </a:solidFill>
                <a:latin typeface="Microsoft YaHei"/>
                <a:ea typeface="Microsoft YaHei"/>
              </a:rPr>
              <a:t>2026-08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62356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</a:rPr>
              <a:t>150 ms/团 交付    |    2.5×10⁶ 原子/团    |    温度 ~120 µK    |    双晶格效率 ~60%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工作目标：面向连续 3000 量子比特的输运链路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520440" cy="16002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① 复现 Rb-87 论文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输运链路全流程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34440"/>
            <a:ext cx="3520440" cy="16002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② 设计 Cs-133 方案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阱深 / 失谐 / 功率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234440"/>
            <a:ext cx="3520440" cy="1600200"/>
          </a:xfrm>
          <a:prstGeom prst="roundRect">
            <a:avLst/>
          </a:prstGeom>
          <a:solidFill>
            <a:srgbClr val="EA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③ 建立全链路模拟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1F3B5C"/>
                </a:solidFill>
                <a:latin typeface="Microsoft YaHei"/>
                <a:ea typeface="Microsoft YaHei"/>
              </a:rPr>
              <a:t>与参数设计工具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54680"/>
            <a:ext cx="2624328" cy="1554480"/>
          </a:xfrm>
          <a:prstGeom prst="roundRect">
            <a:avLst/>
          </a:prstGeom>
          <a:noFill/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</a:rPr>
              <a:t>150 ms/团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7F8C8D"/>
                </a:solidFill>
                <a:latin typeface="Microsoft YaHei"/>
                <a:ea typeface="Microsoft YaHei"/>
              </a:rPr>
              <a:t>交付节奏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6704" y="3154680"/>
            <a:ext cx="2624328" cy="1554480"/>
          </a:xfrm>
          <a:prstGeom prst="roundRect">
            <a:avLst/>
          </a:prstGeom>
          <a:noFill/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</a:rPr>
              <a:t>2.5×10⁶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7F8C8D"/>
                </a:solidFill>
                <a:latin typeface="Microsoft YaHei"/>
                <a:ea typeface="Microsoft YaHei"/>
              </a:rPr>
              <a:t>原子/团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3154680"/>
            <a:ext cx="2624328" cy="1554480"/>
          </a:xfrm>
          <a:prstGeom prst="roundRect">
            <a:avLst/>
          </a:prstGeom>
          <a:noFill/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</a:rPr>
              <a:t>~120 µK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7F8C8D"/>
                </a:solidFill>
                <a:latin typeface="Microsoft YaHei"/>
                <a:ea typeface="Microsoft YaHei"/>
              </a:rPr>
              <a:t>交付温度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34272" y="3154680"/>
            <a:ext cx="2624328" cy="1554480"/>
          </a:xfrm>
          <a:prstGeom prst="roundRect">
            <a:avLst/>
          </a:prstGeom>
          <a:noFill/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</a:rPr>
              <a:t>~60%</a:t>
            </a:r>
          </a:p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7F8C8D"/>
                </a:solidFill>
                <a:latin typeface="Microsoft YaHei"/>
                <a:ea typeface="Microsoft YaHei"/>
              </a:rPr>
              <a:t>双晶格效率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02920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基准：Nature 646, 1075 (2025) —— 连续运行 3000 量子比特，科学区 &gt;2 h 维持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核心问题：原子数留存 × 温度控制 × 散射/相干性 → 需要全链路数值模拟 + 参数设计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总体架构：MOT → L1 → 交接 → L2 → 科学区</a:t>
            </a:r>
          </a:p>
        </p:txBody>
      </p:sp>
      <p:pic>
        <p:nvPicPr>
          <p:cNvPr id="4" name="Picture 3" descr="arch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1968"/>
            <a:ext cx="8503920" cy="39055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1554480"/>
            <a:ext cx="30175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L1：39 cm / 50 ms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交接：1 ms，无冷却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L2：17 cm / 21 ms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DPT 倾角 ~4°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DPT 截断 e⁻¹⁸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全程阱深 &gt;500 µK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时序总览：一个装载周期</a:t>
            </a:r>
          </a:p>
        </p:txBody>
      </p:sp>
      <p:pic>
        <p:nvPicPr>
          <p:cNvPr id="4" name="Picture 3" descr="timing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847" y="1097280"/>
            <a:ext cx="7535825" cy="4800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总周期 171 ms；稳态交付节奏 150 ms/团（MOT 80 → 压缩 7 → idle 1 → LGM 11 → L1 50 → HO 1 → L2 21 ms）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物理基础①：偶极势与散射率（F1 · F2）</a:t>
            </a:r>
          </a:p>
        </p:txBody>
      </p:sp>
      <p:pic>
        <p:nvPicPr>
          <p:cNvPr id="4" name="Picture 3" descr="formula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855590"/>
            <a:ext cx="4846320" cy="952259"/>
          </a:xfrm>
          <a:prstGeom prst="rect">
            <a:avLst/>
          </a:prstGeom>
        </p:spPr>
      </p:pic>
      <p:pic>
        <p:nvPicPr>
          <p:cNvPr id="5" name="Picture 4" descr="formula_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11879"/>
            <a:ext cx="4846320" cy="1320241"/>
          </a:xfrm>
          <a:prstGeom prst="rect">
            <a:avLst/>
          </a:prstGeom>
        </p:spPr>
      </p:pic>
      <p:pic>
        <p:nvPicPr>
          <p:cNvPr id="6" name="Picture 5" descr="dipole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044530"/>
            <a:ext cx="6675120" cy="27689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D1 红失谐：阱深 ∝ P/δ，散射 ∝ P/δ² —— 加大失谐以功率换相干性；D1:D2 权重 1:2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物理基础②：传送带、加速势垒与热束缚（F3–F6）</a:t>
            </a:r>
          </a:p>
        </p:txBody>
      </p:sp>
      <p:pic>
        <p:nvPicPr>
          <p:cNvPr id="4" name="Picture 3" descr="formula_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14450"/>
            <a:ext cx="2468880" cy="617220"/>
          </a:xfrm>
          <a:prstGeom prst="rect">
            <a:avLst/>
          </a:prstGeom>
        </p:spPr>
      </p:pic>
      <p:pic>
        <p:nvPicPr>
          <p:cNvPr id="5" name="Picture 4" descr="formula_F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454780"/>
            <a:ext cx="4114800" cy="336559"/>
          </a:xfrm>
          <a:prstGeom prst="rect">
            <a:avLst/>
          </a:prstGeom>
        </p:spPr>
      </p:pic>
      <p:pic>
        <p:nvPicPr>
          <p:cNvPr id="6" name="Picture 5" descr="formula_F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397547"/>
            <a:ext cx="4754880" cy="451025"/>
          </a:xfrm>
          <a:prstGeom prst="rect">
            <a:avLst/>
          </a:prstGeom>
        </p:spPr>
      </p:pic>
      <p:pic>
        <p:nvPicPr>
          <p:cNvPr id="7" name="Picture 6" descr="conveyor_princi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2410724"/>
            <a:ext cx="5760720" cy="3133831"/>
          </a:xfrm>
          <a:prstGeom prst="rect">
            <a:avLst/>
          </a:prstGeom>
        </p:spPr>
      </p:pic>
      <p:pic>
        <p:nvPicPr>
          <p:cNvPr id="8" name="Picture 7" descr="tilted_barri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5082" y="2331720"/>
            <a:ext cx="5400675" cy="3291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工作点 a ≈ 4000 m/s² ≪ a_c，倾斜势垒仍高；热束缚 η=U/(k_BT)=5 → 87.5%，η=10 → 99.95%（F6）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计算方法总览：双轨制 + LP 初筛</a:t>
            </a:r>
          </a:p>
        </p:txBody>
      </p:sp>
      <p:pic>
        <p:nvPicPr>
          <p:cNvPr id="4" name="Picture 3" descr="pipelin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285" y="1097280"/>
            <a:ext cx="8016948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解析宏观腿（快，用于扫描） + 轨迹 Monte Carlo（准，用于核验）；失谐–功率 LP 可行域先行初筛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装载：LGM 冷却 + 静止晶格（F8）</a:t>
            </a:r>
          </a:p>
        </p:txBody>
      </p:sp>
      <p:pic>
        <p:nvPicPr>
          <p:cNvPr id="4" name="Picture 3" descr="formula_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94710"/>
            <a:ext cx="4937760" cy="7483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886200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Langevin 动力学 + 反冲项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4×10⁶ 原子 @ ~20 µK 入阱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LGM 11 ms 装载，扫描定功率</a:t>
            </a:r>
          </a:p>
        </p:txBody>
      </p:sp>
      <p:pic>
        <p:nvPicPr>
          <p:cNvPr id="6" name="Picture 5" descr="loading_ramp_scan_rb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379764"/>
            <a:ext cx="6446520" cy="41441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L1 运输：分项温升预算（F7）</a:t>
            </a:r>
          </a:p>
        </p:txBody>
      </p:sp>
      <p:pic>
        <p:nvPicPr>
          <p:cNvPr id="4" name="Picture 3" descr="formula_F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1733"/>
            <a:ext cx="5212080" cy="1422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3794760"/>
            <a:ext cx="507492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39 cm / 50 ms；v = 8–10 m/s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a ≈ 4000 m/s²，恒阱深功率跟随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路径：20 → +10.8 → +76.2* → +13.0 ≈ 120 µK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（*交接随机相位解析上界）</a:t>
            </a:r>
          </a:p>
        </p:txBody>
      </p:sp>
      <p:pic>
        <p:nvPicPr>
          <p:cNvPr id="6" name="Picture 5" descr="fig2_temperature_pa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945384"/>
            <a:ext cx="6400800" cy="3012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交接①：双晶格时变势与捕获判据（F9）</a:t>
            </a:r>
          </a:p>
        </p:txBody>
      </p:sp>
      <p:pic>
        <p:nvPicPr>
          <p:cNvPr id="4" name="Picture 3" descr="handover_poten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68446"/>
            <a:ext cx="7772400" cy="4395426"/>
          </a:xfrm>
          <a:prstGeom prst="rect">
            <a:avLst/>
          </a:prstGeom>
        </p:spPr>
      </p:pic>
      <p:pic>
        <p:nvPicPr>
          <p:cNvPr id="5" name="Picture 4" descr="formula_F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1955506"/>
            <a:ext cx="3611880" cy="4781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75320" y="3200400"/>
            <a:ext cx="3611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1 ms 强度反向 ramp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相对相位 0 / π →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势垒与能量再分配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逐粒子 MC 判定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不接受解析替代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交接②：理论修正 —— 六大错误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7635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3566160"/>
                <a:gridCol w="3566160"/>
              </a:tblGrid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</a:p>
                  </a:txBody>
                  <a:tcPr anchor="ctr" marL="73152">
                    <a:solidFill>
                      <a:srgbClr val="1F3B5C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错误推导</a:t>
                      </a:r>
                    </a:p>
                  </a:txBody>
                  <a:tcPr anchor="ctr" marL="73152">
                    <a:solidFill>
                      <a:srgbClr val="1F3B5C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修正口径</a:t>
                      </a:r>
                    </a:p>
                  </a:txBody>
                  <a:tcPr anchor="ctr" marL="73152">
                    <a:solidFill>
                      <a:srgbClr val="1F3B5C"/>
                    </a:solidFill>
                  </a:tcPr>
                </a:tc>
              </a:tr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条件极小值 ≠ 移动阱中心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以移动阱中心展开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</a:tr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小角度 ≠ 小相位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kθσ_y ≈ 15.2 ≫ 1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忽略周期性 → 能量无界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ΔE_site = U·sin²(kδq) ≤ U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</a:tr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自由度计数混用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统一 3D 计数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1 ms 误用突然极限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ω∥τ ≈ 1754，绝热区</a:t>
                      </a:r>
                    </a:p>
                  </a:txBody>
                  <a:tcPr anchor="ctr" marL="73152">
                    <a:solidFill>
                      <a:srgbClr val="F2F5F9"/>
                    </a:solidFill>
                  </a:tcPr>
                </a:tc>
              </a:tr>
              <a:tr h="705396">
                <a:tc>
                  <a:txBody>
                    <a:bodyPr wrap="square" anchor="t"/>
                    <a:lstStyle/>
                    <a:p>
                      <a:pPr algn="ctr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U/(k_BT)≥α 当交接率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  <a:tc>
                  <a:txBody>
                    <a:bodyPr wrap="square" anchor="t"/>
                    <a:lstStyle/>
                    <a:p>
                      <a:pPr algn="l">
                        <a:lnSpc>
                          <a:spcPct val="110000"/>
                        </a:lnSpc>
                        <a:spcAft>
                          <a:spcPts val="400"/>
                        </a:spcAft>
                      </a:pPr>
                      <a:r>
                        <a:rPr sz="1400" b="0">
                          <a:solidFill>
                            <a:srgbClr val="1F3B5C"/>
                          </a:solidFill>
                          <a:latin typeface="Microsoft YaHei"/>
                          <a:ea typeface="Microsoft YaHei"/>
                        </a:rPr>
                        <a:t>是势深裕量；P_bound(5)=87.5%</a:t>
                      </a:r>
                    </a:p>
                  </a:txBody>
                  <a:tcPr anchor="ctr" marL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183879" y="1554480"/>
            <a:ext cx="37033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600" b="1">
                <a:solidFill>
                  <a:srgbClr val="C0392B"/>
                </a:solidFill>
                <a:latin typeface="Microsoft YaHei"/>
                <a:ea typeface="Microsoft YaHei"/>
              </a:rPr>
              <a:t>3238 W → 3.5 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3200400"/>
            <a:ext cx="370332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修正后 Cs 交接需求：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阱深 614 µK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D1 失谐 600–700 GHz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散射 ~500 s⁻¹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功率仅需 3–3.5 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交接③：Monte Carlo 验证</a:t>
            </a:r>
          </a:p>
        </p:txBody>
      </p:sp>
      <p:pic>
        <p:nvPicPr>
          <p:cNvPr id="4" name="Picture 3" descr="handover_efficiency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77863"/>
            <a:ext cx="7589520" cy="48223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83879" y="1554480"/>
            <a:ext cx="3657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C0392B"/>
                </a:solidFill>
                <a:latin typeface="Microsoft YaHei"/>
                <a:ea typeface="Microsoft YaHei"/>
              </a:rPr>
              <a:t>交接率 ≈ 1.000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606040"/>
            <a:ext cx="3657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1F3B5C"/>
                </a:solidFill>
                <a:latin typeface="Microsoft YaHei"/>
                <a:ea typeface="Microsoft YaHei"/>
              </a:rPr>
              <a:t>净升温 ≈ 5.8 µK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657600"/>
            <a:ext cx="3657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远低于解析上界 +76.2 µK：随机相位上界过于保守，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正确工作点下交接近乎无损。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L2 与科学区：密度与全链留存（F10 · F12）</a:t>
            </a:r>
          </a:p>
        </p:txBody>
      </p:sp>
      <p:pic>
        <p:nvPicPr>
          <p:cNvPr id="4" name="Picture 3" descr="formula_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19442"/>
            <a:ext cx="5029199" cy="893035"/>
          </a:xfrm>
          <a:prstGeom prst="rect">
            <a:avLst/>
          </a:prstGeom>
        </p:spPr>
      </p:pic>
      <p:pic>
        <p:nvPicPr>
          <p:cNvPr id="5" name="Picture 4" descr="formula_F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22138"/>
            <a:ext cx="5029200" cy="37948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4526280"/>
            <a:ext cx="5029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L2：17 cm / 21 ms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P_L2,end = 0.36·P_handover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交付 2.5×10⁶ 原子 @ ~120 µK</a:t>
            </a:r>
          </a:p>
        </p:txBody>
      </p:sp>
      <p:pic>
        <p:nvPicPr>
          <p:cNvPr id="7" name="Picture 6" descr="full_chain_scan_rb8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79764"/>
            <a:ext cx="6446520" cy="414419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设计优化：失谐–功率 LP 可行域（F11）</a:t>
            </a:r>
          </a:p>
        </p:txBody>
      </p:sp>
      <p:pic>
        <p:nvPicPr>
          <p:cNvPr id="4" name="Picture 3" descr="formula_F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18413"/>
            <a:ext cx="4846320" cy="6495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4297680"/>
            <a:ext cx="48463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五约束半平面 → 凸可行域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LP 快速初筛参数区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再由 handover map MC 复核</a:t>
            </a:r>
          </a:p>
        </p:txBody>
      </p:sp>
      <p:pic>
        <p:nvPicPr>
          <p:cNvPr id="6" name="Picture 5" descr="detuning_power_l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05230"/>
            <a:ext cx="6537959" cy="47218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Cs-133 方案设计</a:t>
            </a:r>
          </a:p>
        </p:txBody>
      </p:sp>
      <p:pic>
        <p:nvPicPr>
          <p:cNvPr id="4" name="Picture 3" descr="fig1_scheme_comparison_fi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82932"/>
            <a:ext cx="5852160" cy="3183575"/>
          </a:xfrm>
          <a:prstGeom prst="rect">
            <a:avLst/>
          </a:prstGeom>
        </p:spPr>
      </p:pic>
      <p:pic>
        <p:nvPicPr>
          <p:cNvPr id="5" name="Picture 4" descr="full_chain_scan_cs1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67147"/>
            <a:ext cx="5623560" cy="3615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Cs-133 工作点：阱深 614 µK · D1 失谐 600–700 GHz · 功率 3–3.5 W · 散射 ~500 s⁻¹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程序架构与接口</a:t>
            </a:r>
          </a:p>
        </p:txBody>
      </p:sp>
      <p:pic>
        <p:nvPicPr>
          <p:cNvPr id="4" name="Picture 3" descr="module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33648"/>
            <a:ext cx="6858000" cy="43107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554480"/>
            <a:ext cx="43891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两种接口：标量 (N, T)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与相空间连续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ParticleEnsemble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配置流：data/*.json →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dataclass 默认 → CLI 覆盖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入口：python -m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continuous_loading &lt;子命令&gt;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GPU 支路用于批量 MC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口径纪律与已知边界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1325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Microsoft YaHei"/>
                <a:ea typeface="Microsoft YaHei"/>
              </a:rPr>
              <a:t>纪律一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F3B5C"/>
                </a:solidFill>
                <a:latin typeface="Microsoft YaHei"/>
                <a:ea typeface="Microsoft YaHei"/>
              </a:rPr>
              <a:t>数字一律采用 OUTLINE §2 口径；冲突时标注来源（论文 / 解析 / MC）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880360"/>
            <a:ext cx="11064240" cy="1325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Microsoft YaHei"/>
                <a:ea typeface="Microsoft YaHei"/>
              </a:rPr>
              <a:t>纪律二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F3B5C"/>
                </a:solidFill>
                <a:latin typeface="Microsoft YaHei"/>
                <a:ea typeface="Microsoft YaHei"/>
              </a:rPr>
              <a:t>论文未公开量 = 工程假设，显式标注、可追溯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434840"/>
            <a:ext cx="11064240" cy="1325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000" b="1">
                <a:solidFill>
                  <a:srgbClr val="C0392B"/>
                </a:solidFill>
                <a:latin typeface="Microsoft YaHei"/>
                <a:ea typeface="Microsoft YaHei"/>
              </a:rPr>
              <a:t>纪律三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200" b="1">
                <a:solidFill>
                  <a:srgbClr val="1F3B5C"/>
                </a:solidFill>
                <a:latin typeface="Microsoft YaHei"/>
                <a:ea typeface="Microsoft YaHei"/>
              </a:rPr>
              <a:t>损失系数默认全零；交接率只认轨迹 MC，不接受解析替代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600" b="0">
                <a:solidFill>
                  <a:srgbClr val="7F8C8D"/>
                </a:solidFill>
                <a:latin typeface="Microsoft YaHei"/>
                <a:ea typeface="Microsoft YaHei"/>
              </a:rPr>
              <a:t>已知边界：再热化假设；随机相位解析上界 ≠ MC 真实升温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4300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总结与下一步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486400" cy="4754880"/>
          </a:xfrm>
          <a:prstGeom prst="round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400" b="1">
                <a:solidFill>
                  <a:srgbClr val="1F3B5C"/>
                </a:solidFill>
                <a:latin typeface="Microsoft YaHei"/>
                <a:ea typeface="Microsoft YaHei"/>
              </a:rPr>
              <a:t>成果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Rb-87 全链复现论文：150 ms/团、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2.5×10⁶ 原子 @ ~120 µK、效率 ~60%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交接理论修正：3238 W → 3.5 W，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MC 交接率 ≈ 1.000、净升温 5.8 µK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Cs-133 方案：614 µK / 600–700 GHz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/ 3–3.5 W，散射 ~500 s⁻¹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234440"/>
            <a:ext cx="5486400" cy="4754880"/>
          </a:xfrm>
          <a:prstGeom prst="roundRect">
            <a:avLst/>
          </a:prstGeom>
          <a:solidFill>
            <a:srgbClr val="FB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2400" b="1">
                <a:solidFill>
                  <a:srgbClr val="C0392B"/>
                </a:solidFill>
                <a:latin typeface="Microsoft YaHei"/>
                <a:ea typeface="Microsoft YaHei"/>
              </a:rPr>
              <a:t>下一步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交接 MC 与实验参数逐点对标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损失系数标定（当前默认全零）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双轨结果对照手册补齐（口径表）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GPU 批量扫描，接入实验闭环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• 科学区装载镊阵（30 万原子/s）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1F3B5C"/>
                </a:solidFill>
                <a:latin typeface="Microsoft YaHei"/>
                <a:ea typeface="Microsoft YaHei"/>
              </a:rPr>
              <a:t>  接口参数联调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777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8C8D"/>
                </a:solidFill>
                <a:latin typeface="Microsoft YaHei"/>
                <a:ea typeface="Microsoft YaHe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